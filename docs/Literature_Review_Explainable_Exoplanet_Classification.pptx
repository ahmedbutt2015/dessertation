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1430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150786"/>
            <a:ext cx="71437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Literature Review:</a:t>
            </a:r>
            <a:r>
              <a:rPr lang="en-US" sz="33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3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Explainable Exoplanet </a:t>
            </a:r>
            <a:r>
              <a:rPr lang="en-US" sz="33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Classification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000125" y="2745237"/>
            <a:ext cx="71437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Comparative Study of Fine-Tuning, LoRA, and Retrieval-Augmented AI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00125" y="3670353"/>
            <a:ext cx="7143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Ahmed Fayyaz Butt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COM748 MSc Research Project | Ulster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472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70437"/>
            <a:ext cx="9144000" cy="14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715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01. Identifying Exoplanets with Deep Learning (AstroNet)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561482"/>
            <a:ext cx="87153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Shallue &amp; Vanderburg | The Astronomical Journal, 2018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117584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inspection of 200,000 Kepler light curves for transit signals is impossibly slow.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153872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automated methods use hand-crafted features that miss subtle, low signal-to-noise transits.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190160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scalable, automated deep learning approach was needed to handle the vast amount of archival data.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8625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8625" y="153872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8625" y="190160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8625" y="2364498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DATASET USED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8625" y="2591312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Kepler DR24 — 15,000 labelled Threshold Crossing Events (TCEs).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2954192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Labels: Planet Candidate (PC) vs False Positive (FP).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8625" y="3157063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curves phase-folded into global view (2001 bins) + local view (201 bins).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8625" y="3519943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NASA Exoplanet Archive — exoplanetarchive.ipac.caltech.edu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8625" y="259131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8625" y="295419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28625" y="3157063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8625" y="3519943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679156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79156" y="117584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Two-branch CNN: one for global light curve view, one for local transit view.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79156" y="1538725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Phase-folding: raw flux aligned by period to reinforce the transit signal.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79156" y="1741596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Branches merged in shared fully-connected layers with sigmoid output.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79156" y="1944467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Training: TensorFlow, Adam optimiser, binary cross-entropy loss.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679156" y="2147339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Discovered Kepler-90i (8th planet) and Kepler-80g from archival data.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679156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79156" y="153872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679156" y="174159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79156" y="1944467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679156" y="214733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679156" y="2450223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79156" y="2677037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Accuracy: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96.0% on Kepler DR24 test set.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79156" y="2879908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Average Precision: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95.0%.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679156" y="3082779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Recall: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94.1% on planet candidates.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679156" y="3285651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 discovery of 2 real new exoplanets from archival data.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0" y="4888111"/>
            <a:ext cx="9144000" cy="255389"/>
          </a:xfrm>
          <a:prstGeom prst="rect">
            <a:avLst/>
          </a:prstGeom>
          <a:noFill/>
          <a:ln/>
        </p:spPr>
        <p:txBody>
          <a:bodyPr wrap="square" lIns="510286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Link: </a:t>
            </a: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https://arxiv.org/abs/1712.05044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4679156" y="2677037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79156" y="2879908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79156" y="308277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79156" y="328565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472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70437"/>
            <a:ext cx="9144000" cy="14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715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02. LoRA: Low-Rank Adaptation of Large Language Models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561482"/>
            <a:ext cx="87153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Hu, Shen, Wallis et al. (Microsoft Research) | ICLR 2022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117584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fine-tuning of large pre-trained models updates every parameter — GPT-3 has 175 billion.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153872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prohibitively expensive in memory and compute, and requires storing a separate full model copy per task.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190160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parameter-efficient alternative was needed to adapt massive models to specific downstream tasks.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8625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8625" y="153872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8625" y="190160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8625" y="2364498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DATASET USED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8625" y="2591312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benchmarks: GLUE, SuperGLUE, WikiSQL, SAMSum, E2E NLG Challenge.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2954192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evaluated: RoBERTa-base (125M), GPT-2 Medium/Large, GPT-3 175B.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8625" y="3317072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fine-tuning technique — later applied to ViT on satellite imagery by Pu &amp; Xu (2024).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8625" y="259131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8625" y="295419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8625" y="331707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679156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79156" y="1175845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 all original pre-trained weights W₀.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679156" y="1378716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 two small trainable matrices A (d x r) and B (r x k) beside each weight.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679156" y="1741596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pass: W₀*x + (B*A)*x * (alpha/r) — only A and B are updated.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79156" y="1944467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r ≪ d: typically r=4 or r=8 vs d=768+ in large transformers.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79156" y="2147339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added inference latency — matrices merged back at deployment.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79156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679156" y="137871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679156" y="174159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79156" y="1944467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679156" y="214733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79156" y="2450223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79156" y="2677037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GPT-3 175B: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Trainable params reduced by 10,000x vs full fine-tuning.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79156" y="2879908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Memory: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GPU memory reduced by 3x vs full fine-tuning.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79156" y="3082779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Quality: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E2E NLG: LoRA BLEU = 70.4 vs full fine-tuning BLEU = 68.9.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79156" y="3285651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or exceeds full fine-tuning quality on all benchmarks.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0" y="4888111"/>
            <a:ext cx="9144000" cy="255389"/>
          </a:xfrm>
          <a:prstGeom prst="rect">
            <a:avLst/>
          </a:prstGeom>
          <a:noFill/>
          <a:ln/>
        </p:spPr>
        <p:txBody>
          <a:bodyPr wrap="square" lIns="510286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Link: </a:t>
            </a: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https://arxiv.org/abs/2106.09685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4679156" y="2677037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679156" y="2879908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679156" y="308277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79156" y="328565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675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3303"/>
            <a:ext cx="9144000" cy="14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71537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03. Exoplanet Classification via Vision Transformers with Temporal Image Analysis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28625" y="544348"/>
            <a:ext cx="87153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Choudhary, Bandari, Kushvah &amp; Swastik | The Astronomical Journal, 2025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931897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1158711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CNNs applied to raw 1D Kepler light curves have a limited receptive field.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1521591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often miss global temporal patterns across the full light curve duration.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1884471"/>
            <a:ext cx="4036219" cy="480027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Transformers are powerful for image tasks but cannot process raw 1D sequences — a bridge between time series and image input was needed.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8625" y="115871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8625" y="152159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8625" y="188447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8625" y="2507373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DATASET USED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8625" y="2734187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Kepler KOI Cumulative Table — labelled light curves.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2937058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Labels: CONFIRMED exoplanets vs FALSE POSITIVE signals.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8625" y="3139929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1D PDCSAP flux time series downloaded via Lightkurve from MAST archive.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8625" y="3502809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mast.stsci.edu — same dataset used in this dissertation project.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8625" y="2734187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8625" y="2937058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28625" y="313992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8625" y="350280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679156" y="931897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79156" y="1158711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 Convert 1D light curve to 2D image using Gramian Angular Field (GAF) or Recurrence Plots (RP).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79156" y="1521591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GAF encodes temporal correlations as a matrix of cosine similarities.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79156" y="1724462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 Feed 2D image into pre-trained ViT-B/16 for classification.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79156" y="1927334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Evaluation: 5-fold cross-validation to reduce bias from class imbalance.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679156" y="213020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Finding: Recurrence Plots outperform GAFs and CNN baselines on low-SNR signals.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679156" y="115871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79156" y="152159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679156" y="172446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79156" y="1927334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679156" y="213020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679156" y="2593098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79156" y="2819912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ViT + Recurrence Plot: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Recall = 89.46%, Precision = 85.09%.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79156" y="3022783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ViT + GAF: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Recall = 84.2%, Precision = 81.3%.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679156" y="3225654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Outperforms AstroNet CNN baseline on low signal-to-noise transits.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679156" y="3428526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5-fold cross-validation F1 reported for robust evaluation.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0" y="4888111"/>
            <a:ext cx="9144000" cy="255389"/>
          </a:xfrm>
          <a:prstGeom prst="rect">
            <a:avLst/>
          </a:prstGeom>
          <a:noFill/>
          <a:ln/>
        </p:spPr>
        <p:txBody>
          <a:bodyPr wrap="square" lIns="510286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Link: </a:t>
            </a: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https://arxiv.org/abs/2506.16597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4679156" y="281991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79156" y="3022783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79156" y="3225654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79156" y="342852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472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70437"/>
            <a:ext cx="9144000" cy="14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715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04. An Image is Worth 16x16 Words: Vision Transformers (ViT)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561482"/>
            <a:ext cx="87153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Dosovitskiy, Beyer, Kolesnikov et al. (Google Brain) | ICLR 2021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117584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CNNs process images using local convolutional filters — they cannot model long-range spatial relationships between distant image regions.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1538725"/>
            <a:ext cx="4036219" cy="480027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Self-attention in Transformers can model global context, but applying it to images naively is computationally intractable due to pixel-level resolution.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8625" y="153872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8625" y="2161626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DATASET USED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8625" y="2388440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Pre-training: JFT-300M (300M proprietary Google images).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8625" y="2591312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benchmarks: ImageNet (1.28M images, 1000 classes).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28625" y="2794183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evaluated on CIFAR-10/100, Oxford Pets, Oxford Flowers-102.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2997054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 ViT needs large pre-training data to outperform CNNs.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8625" y="2388440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8625" y="259131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8625" y="2794183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8625" y="2997054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679156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79156" y="117584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image into fixed 16x16 pixel patches (e.g. 196 patches for 224x224).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679156" y="1538725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Linearly project each patch into a 1D embedding vector (token).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679156" y="1741596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Prepend learnable [CLS] token for classification.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79156" y="1944467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positional embeddings so model knows patch location.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79156" y="2147339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standard Transformer encoder: multi-head self-attention + MLP.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79156" y="2350210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head on [CLS] token output — no CNN components.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679156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679156" y="153872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79156" y="174159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679156" y="1944467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79156" y="214733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679156" y="2350210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679156" y="2653094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79156" y="2879908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ViT-H/14 on ImageNet: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Top-1 Accuracy = 88.55%.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79156" y="3082779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ViT-L/16 on ImageNet: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87.76% — comparable to best CNNs of the era.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679156" y="3285651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Throughput: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ViT-L is ~2x faster than similar-accuracy ResNets.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679156" y="3488522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maps show meaningful global spatial reasoning across patches.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0" y="4888111"/>
            <a:ext cx="9144000" cy="255389"/>
          </a:xfrm>
          <a:prstGeom prst="rect">
            <a:avLst/>
          </a:prstGeom>
          <a:noFill/>
          <a:ln/>
        </p:spPr>
        <p:txBody>
          <a:bodyPr wrap="square" lIns="510286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Link: </a:t>
            </a: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https://arxiv.org/abs/2010.11929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4679156" y="2879908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79156" y="3082779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79156" y="3285651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79156" y="348852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8472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70437"/>
            <a:ext cx="9144000" cy="14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7153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05. Retrieval-Augmented Generation for Knowledge-Intensive NLP Tasks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561482"/>
            <a:ext cx="87153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Lewis, Perez, Piktus et al. (Meta AI / UCL / NYU) | NeurIPS 2020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8625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117584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language models store factual knowledge in their weights, but that knowledge is frozen at training time and cannot be updated.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28625" y="153872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knowledge-intensive tasks requiring specific facts, LLMs hallucinate or give outdated answers.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190160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way to give models access to live, external knowledge at inference time was needed.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8625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8625" y="153872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8625" y="190160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8625" y="2364498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DATASET USED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8625" y="2591312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Training: Wikipedia dump (December 2018) — 21M 100-word passages.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2794183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Evaluation: Natural Questions, TriviaQA, WebQuestions open-domain QA.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8625" y="3157063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evaluated on MS-MARCO, Jeopardy question generation.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8625" y="3359934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this dissertation: RAG used as POST-CLASSIFICATION explanation layer — not to modify the classifier itself.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8625" y="2591312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8625" y="2794183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28625" y="3157063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8625" y="3359934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679156" y="94903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79156" y="117584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components: Retriever (DPR encoder) + Generator (BART seq2seq).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79156" y="1538725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inference: query encoded to vector, top-k relevant passages retrieved.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79156" y="1901605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Retrieved passages concatenated with query and fed to generator.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79156" y="2104476"/>
            <a:ext cx="4036219" cy="32001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variants: RAG-Sequence (one document per answer) and RAG-Token.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679156" y="2467356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training: backprop through both retriever and generator.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679156" y="117584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79156" y="153872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679156" y="1901605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79156" y="210447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679156" y="246735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679156" y="2770240"/>
            <a:ext cx="40362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F5A62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79156" y="2997054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NaturalQuestions: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RAG Exact Match = 44.5% vs BART-only 26.5%.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79156" y="3199926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TriviaQA:</a:t>
            </a: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RAG = 56.1% vs SOTA at the time = 47.1%.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679156" y="3402797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Hallucination rate substantially reduced vs pure parametric model.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679156" y="3605668"/>
            <a:ext cx="4036219" cy="16000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more specific, diverse, and factual outputs across all tasks.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0" y="4888111"/>
            <a:ext cx="9144000" cy="255389"/>
          </a:xfrm>
          <a:prstGeom prst="rect">
            <a:avLst/>
          </a:prstGeom>
          <a:noFill/>
          <a:ln/>
        </p:spPr>
        <p:txBody>
          <a:bodyPr wrap="square" lIns="510286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Link: </a:t>
            </a:r>
            <a:r>
              <a:rPr lang="en-US" sz="650" i="1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https://arxiv.org/abs/2005.11401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4679156" y="2997054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79156" y="3199926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79156" y="3402797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79156" y="3605668"/>
            <a:ext cx="6429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90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2026-05-30T15:13:40Z</dcterms:created>
  <dcterms:modified xsi:type="dcterms:W3CDTF">2026-05-30T15:13:40Z</dcterms:modified>
</cp:coreProperties>
</file>